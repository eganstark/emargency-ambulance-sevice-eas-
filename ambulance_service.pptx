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780" r:id="rId3"/>
    <p:sldId id="8677" r:id="rId4"/>
    <p:sldId id="8679" r:id="rId5"/>
    <p:sldId id="8678" r:id="rId6"/>
    <p:sldId id="8647" r:id="rId7"/>
    <p:sldId id="8680" r:id="rId8"/>
    <p:sldId id="8686" r:id="rId9"/>
    <p:sldId id="8681" r:id="rId10"/>
    <p:sldId id="8687" r:id="rId11"/>
    <p:sldId id="8682" r:id="rId12"/>
    <p:sldId id="8683" r:id="rId13"/>
    <p:sldId id="8685" r:id="rId14"/>
    <p:sldId id="8676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E0253-570E-4918-870C-3DEE21EAA97F}" v="1277" dt="2023-11-01T21:14:57.687"/>
    <p1510:client id="{F7D0F7F7-015A-4C19-80BE-4771C6F20F55}" v="902" dt="2023-12-24T14:20:54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E29FD-5CB0-43B2-8DE4-7A81EECF5A0B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2CAD8-F91A-409A-B778-AA74111763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03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04D2-96C3-8DD3-9CD9-A294243F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B27ED7-698A-A37C-DD4B-A743D2098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2B0991-3E02-34F1-2380-5F6B40D10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89ADA5-DF99-0D9F-1675-650B374C7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86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F7BB-45BF-4474-72BE-BEA76C96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BAEB9-CC17-B631-6915-607AFBDB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66DA7E-6E03-AF63-6B16-0D8544377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6B43C-4EDC-8517-23E0-EE8BCAE18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36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AE0EE-1CBF-AA52-293D-4F95EF74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914EBE-D433-4178-C7BE-649CAC5FC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D30145-4DEC-98CA-7E36-E91F82331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DA5F58-B685-EEF7-3870-576C217D2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188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77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1DCC-E8C2-A97A-CA88-DE5388FB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E97ED3-8C97-1D75-399B-05E9D8D2B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935B09-7728-8CF2-CCBE-D8D25EEE6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6AD30-5F98-8701-135A-17DE6675E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718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8A7A-F58B-8E38-958E-C6A4946BD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A2B89C-54D2-D41E-0212-4BA20F425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75EAF3-CA8F-D273-185E-D95F15C3A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25606-AFD9-96B3-F723-FD3058ACA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767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BA9B8-F583-AED3-90DA-4444E141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365A96-46A3-3615-FCCE-A79230C33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599EB6-F9D1-4992-151A-3A8D11FEB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B1FE5-03D3-96A9-CCD9-9E922F356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79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077A-8CBD-7B11-CBB7-19C8C4A9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BE34C6-EC76-9FD1-1BF9-5E894A881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909BA1-7102-19A5-F52A-AACBC932A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1508BC-A5FB-23BF-7372-D42D4362A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574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4C17-568A-1410-FBD6-20C073D4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D60E79-55B6-171E-9084-21B35D2EA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D65E4B-FCB8-6635-B364-11A133FE7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A1BBFE-DA58-25A7-DC24-BD845E1F3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273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B5DD-F700-0F00-5093-C777A467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4BCF5E-C338-4FBB-C013-630F5CE1E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DA0E8F-1B3D-9A66-401C-25C7B1C1F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E2D5F8-529C-013D-7F0B-9B9413898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50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CDC7-E68C-E37A-DEB9-A36DE70E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6AEEBB-50AC-081E-A556-39F741760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5DAA1B-2676-274E-52BF-E14C36E4A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D80B95-392F-0D3B-B21A-E9C0AB0A3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8104A-5641-4B11-ABFC-8CE18B2575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19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E6307-B339-4BB6-917D-3C2347327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t">
            <a:normAutofit/>
          </a:bodyPr>
          <a:lstStyle>
            <a:lvl1pPr algn="ctr">
              <a:defRPr sz="6000"/>
            </a:lvl1pPr>
          </a:lstStyle>
          <a:p>
            <a:r>
              <a:rPr lang="en-US" altLang="en-US"/>
              <a:t>Click here to edit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072071-EDC3-4497-9CF5-D380D8263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en-US"/>
              <a:t>Click here to edit master subtitle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F51E2-6110-42B6-AD1C-2A061E70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B077BF-E70D-46F2-806A-019D5E9D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0F3DE-A7B7-4C33-862E-179405C3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81179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F77EB-7B1C-4797-B807-1B765A21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Click here to edit master header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EB334-C061-42FA-A5AE-07BFA353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7535A-CA5C-4FEB-8741-595DAEBF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168A3-DC42-4431-B2A4-33DDF8F9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EB0B5-8941-4C75-B707-5940D44E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463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5127F-20D8-4068-878F-48890575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altLang="en-US"/>
              <a:t>Click here to edit master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98F518-0D22-4132-8C68-ED1D54680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en-US"/>
              <a:t>Edit Master Text Style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F2D2F-B897-46FD-A83C-A03ED06B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671F4-D60B-47B4-BB35-3100C474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5399D-A2E8-4CAD-B3BB-26E911D8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92767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4A8BC-975A-4B24-8DA5-BFD4085B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Click here to edit master header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4331B-1258-49A7-A448-BA619BD2C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832F10-E7A1-4918-9586-614F89310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315400-E657-44A6-9431-0775D1338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4BE32A-A4EE-4002-9DA3-2E867BA7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05ECE8-9536-4F2A-A2C6-F24A7E3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49736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28D4C-61C7-4860-85A6-A3F6A9C4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/>
              <a:t>Click here to edit master header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DC5404-67DA-47BC-BDC7-CFE0371E0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en-US"/>
              <a:t>Edit Master Text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C7319B-9EFD-4F2B-AFB4-6F8FF9B70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A08BC7-5813-4F8F-A400-9C517B3D3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en-US"/>
              <a:t>Edit Master Text Style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A17C35-FA6D-40CF-817E-CED56FC47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908C43-40B8-47E0-BEE5-4D569B39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9C5204-5B7E-43D5-BD5A-EE4E2049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D37292-8C9A-410B-BA66-F1870002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56463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604C9-D928-41DE-A839-3EAEC1FA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Click here to edit master header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DAC134-AFFB-4EBC-8577-3763C771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D0B644-513C-4606-84A6-087331DB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F4FFAE-F259-4982-A5E1-51E87518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2714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8FB671-D110-4C75-BC20-D71012F4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D5A602-2A66-4B9D-AC99-DCA045FC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DC037-E85D-4B1C-AAF2-707E2003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1873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8E56B-88A9-4A63-AA39-EEC66F4B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altLang="en-US"/>
              <a:t>Click here to edit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D1967-9EA4-49D8-B47A-A4928B9B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30B7C7-9F69-405B-A724-A56FFE8CF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en-US" sz="700"/>
              <a:t>Edit Master Text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A3FB0E-9CF1-484B-B4E7-EDED727E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058464-C1D5-4E69-91AB-FEEADBE5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698F-D47F-464C-8A82-581E076C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7791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CE7E5-5001-424A-AA19-22C73E29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altLang="en-US"/>
              <a:t>Click here to edit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7281FE-6EDA-43D6-9015-553BF16ED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0C39A6-BBC0-4016-B558-EF17FDE34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en-US" sz="700"/>
              <a:t>Edit Master Text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7275C6-0447-48E4-871A-D2274E6D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AF0A44-B67C-432B-AF7A-A261D75E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4500BC-68D8-47FB-87BF-3CAD99BF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53297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F56CA-60B2-41D2-9BC1-9F491180B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Click here to edit master header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036413-0D1F-49C6-ABC3-E88B00AA9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vert"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0967AC-5B2E-4CE5-B02B-28F41E91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432D6-B28E-4415-90A8-1491910D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D1B169-DE41-4C59-B264-6376E14F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72519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2B3E7E-5BF0-4A59-8E75-85A611782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vert">
            <a:normAutofit/>
          </a:bodyPr>
          <a:lstStyle/>
          <a:p>
            <a:r>
              <a:rPr lang="en-US" altLang="en-US" sz="3300"/>
              <a:t>Click here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94D29-58BB-4975-B376-EF1A5BC29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vert"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08C711-39DA-4EF0-8F62-5B958554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34A974-65FE-4464-B01A-02E8F7EF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20632-8296-4676-AD40-600AE63B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38881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052A119-0394-4507-B33E-5A24B2652F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8596021" y="4849738"/>
            <a:ext cx="3595977" cy="2028262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E46FE55-3483-4CE2-A50A-14B5DF80B7F4}"/>
              </a:ext>
            </a:extLst>
          </p:cNvPr>
          <p:cNvCxnSpPr/>
          <p:nvPr userDrawn="1"/>
        </p:nvCxnSpPr>
        <p:spPr>
          <a:xfrm flipH="1">
            <a:off x="439838" y="2301240"/>
            <a:ext cx="0" cy="4556760"/>
          </a:xfrm>
          <a:prstGeom prst="line">
            <a:avLst/>
          </a:prstGeom>
          <a:ln w="571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676C973-6C56-43D3-A4E2-BBDE0426FE40}"/>
              </a:ext>
            </a:extLst>
          </p:cNvPr>
          <p:cNvCxnSpPr/>
          <p:nvPr userDrawn="1"/>
        </p:nvCxnSpPr>
        <p:spPr>
          <a:xfrm flipH="1">
            <a:off x="11784957" y="-9982"/>
            <a:ext cx="0" cy="3438982"/>
          </a:xfrm>
          <a:prstGeom prst="line">
            <a:avLst/>
          </a:prstGeom>
          <a:ln w="571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76CB1A5-73A0-4C71-912E-BBBAA56F8F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1" y="0"/>
            <a:ext cx="2129948" cy="179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7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0540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fld id="{7C25B2B0-692A-46A2-956F-D87A1A3CFB5B}" type="datetimeFigureOut">
              <a:rPr lang="en-US" altLang="en-US" sz="1100"/>
              <a:pPr>
                <a:defRPr/>
              </a:pPr>
              <a:t>12/24/2023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fld id="{CCE584FB-8213-408C-973A-0BFE315A5B2C}" type="slidenum">
              <a:rPr lang="en-US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4352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5883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7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7264FB-0618-4E18-959B-77CB113B8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/>
              <a:t>Click here to edit master header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F56141-EDC8-4561-B210-A15B1651A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en-US"/>
              <a:t>Edit Master Text Style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2B7860-1501-44BF-BDA2-4ECAC48F4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456EF-EDA7-466D-90A9-97D47B7037CB}" type="datetimeFigureOut">
              <a:rPr lang="en-US" altLang="en-US" sz="1100" smtClean="0"/>
              <a:t>12/24/2023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586E5-F721-4A39-860D-941C9E93E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DB4B5-A198-4FFC-8349-20B0234F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D73ED-7EBB-4E11-B60B-79773C5177D3}" type="slidenum">
              <a:rPr lang="en-US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81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泪滴形 9">
            <a:extLst>
              <a:ext uri="{FF2B5EF4-FFF2-40B4-BE49-F238E27FC236}">
                <a16:creationId xmlns:a16="http://schemas.microsoft.com/office/drawing/2014/main" id="{C9416E8A-0898-482F-9D94-AD81FC52CA87}"/>
              </a:ext>
            </a:extLst>
          </p:cNvPr>
          <p:cNvSpPr/>
          <p:nvPr/>
        </p:nvSpPr>
        <p:spPr>
          <a:xfrm flipH="1">
            <a:off x="262493" y="314332"/>
            <a:ext cx="7759692" cy="5681354"/>
          </a:xfrm>
          <a:prstGeom prst="teardrop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zh-CN" sz="1400" dirty="0">
                <a:latin typeface="Arial"/>
              </a:rPr>
              <a:t>                   </a:t>
            </a:r>
            <a:endParaRPr lang="zh-CN" altLang="en-US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endParaRPr lang="en-US" altLang="zh-CN" sz="1400" dirty="0">
              <a:latin typeface="Arial"/>
            </a:endParaRPr>
          </a:p>
          <a:p>
            <a:r>
              <a:rPr lang="en-US" altLang="zh-CN" sz="1400" dirty="0">
                <a:latin typeface="Arial"/>
              </a:rPr>
              <a:t>                                        </a:t>
            </a:r>
            <a:endParaRPr lang="zh-CN" sz="1400" dirty="0">
              <a:latin typeface="Arial"/>
            </a:endParaRPr>
          </a:p>
          <a:p>
            <a:pPr algn="ctr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08C9F2-C22A-4CC3-BE4D-7FA16B806581}"/>
              </a:ext>
            </a:extLst>
          </p:cNvPr>
          <p:cNvSpPr/>
          <p:nvPr/>
        </p:nvSpPr>
        <p:spPr>
          <a:xfrm>
            <a:off x="262359" y="315410"/>
            <a:ext cx="11667281" cy="622718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F592D1-3333-41FE-9111-5C05A97E38C8}"/>
              </a:ext>
            </a:extLst>
          </p:cNvPr>
          <p:cNvSpPr/>
          <p:nvPr/>
        </p:nvSpPr>
        <p:spPr>
          <a:xfrm>
            <a:off x="717723" y="2058673"/>
            <a:ext cx="6308812" cy="118872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dist"/>
            <a:r>
              <a:rPr lang="en-US" altLang="en-US" sz="3600" dirty="0">
                <a:solidFill>
                  <a:schemeClr val="bg1"/>
                </a:solidFill>
                <a:latin typeface="Arial"/>
                <a:cs typeface="+mn-ea"/>
                <a:sym typeface="+mn-lt"/>
              </a:rPr>
              <a:t>Emergency Ambulance care</a:t>
            </a:r>
            <a:endParaRPr lang="en-US" altLang="en-US" sz="3600" dirty="0">
              <a:solidFill>
                <a:schemeClr val="bg1"/>
              </a:solidFill>
              <a:latin typeface="Arial"/>
              <a:cs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C01873-2D21-4EA2-9C26-5EC085CD547B}"/>
              </a:ext>
            </a:extLst>
          </p:cNvPr>
          <p:cNvSpPr/>
          <p:nvPr/>
        </p:nvSpPr>
        <p:spPr>
          <a:xfrm>
            <a:off x="821056" y="2806386"/>
            <a:ext cx="5467686" cy="76084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D1D5DB"/>
                </a:solidFill>
                <a:latin typeface="Arial"/>
                <a:ea typeface="+mn-lt"/>
                <a:cs typeface="+mn-lt"/>
                <a:sym typeface="+mn-lt"/>
              </a:rPr>
              <a:t>Connecting You to Ambulance Services</a:t>
            </a:r>
            <a:endParaRPr lang="en-US" dirty="0">
              <a:latin typeface="Arial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B6DA42C0-1D0B-45FB-861F-F503483E1435}"/>
              </a:ext>
            </a:extLst>
          </p:cNvPr>
          <p:cNvSpPr txBox="1"/>
          <p:nvPr/>
        </p:nvSpPr>
        <p:spPr>
          <a:xfrm>
            <a:off x="7279888" y="360629"/>
            <a:ext cx="4448330" cy="1264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dist" defTabSz="914217"/>
            <a:endParaRPr lang="en-US" sz="2400" spc="150" dirty="0">
              <a:solidFill>
                <a:srgbClr val="D1D5DB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A989D4-94D2-4CD9-A298-F4D21E501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b="12478"/>
          <a:stretch>
            <a:fillRect/>
          </a:stretch>
        </p:blipFill>
        <p:spPr>
          <a:xfrm flipH="1">
            <a:off x="5099309" y="-195675"/>
            <a:ext cx="6805819" cy="724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6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3" name="圆角矩形 7"/>
          <p:cNvSpPr/>
          <p:nvPr/>
        </p:nvSpPr>
        <p:spPr>
          <a:xfrm>
            <a:off x="1304925" y="1901825"/>
            <a:ext cx="4591050" cy="1476375"/>
          </a:xfrm>
          <a:prstGeom prst="roundRect">
            <a:avLst>
              <a:gd name="adj" fmla="val 9083"/>
            </a:avLst>
          </a:prstGeom>
          <a:noFill/>
          <a:ln w="12700" cap="flat" cmpd="sng">
            <a:solidFill>
              <a:srgbClr val="ADBACA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9944" name="矩形 8"/>
          <p:cNvSpPr/>
          <p:nvPr/>
        </p:nvSpPr>
        <p:spPr>
          <a:xfrm>
            <a:off x="1638300" y="2230438"/>
            <a:ext cx="3924300" cy="1112222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>
              <a:lnSpc>
                <a:spcPct val="100000"/>
              </a:lnSpc>
            </a:pPr>
            <a:r>
              <a:rPr lang="en-US" altLang="en-US" sz="2000" dirty="0">
                <a:solidFill>
                  <a:schemeClr val="tx1">
                    <a:lumMod val="75000"/>
                  </a:schemeClr>
                </a:solidFill>
                <a:latin typeface="Arial"/>
                <a:cs typeface="+mn-ea"/>
              </a:rPr>
              <a:t>Firoz Mahmud Rizvi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Arial"/>
                <a:cs typeface="+mn-ea"/>
              </a:rPr>
              <a:t>2019-2-60-076</a:t>
            </a:r>
          </a:p>
          <a:p>
            <a:pPr>
              <a:lnSpc>
                <a:spcPct val="120000"/>
              </a:lnSpc>
            </a:pPr>
            <a:endParaRPr lang="en-US" altLang="zh-CN" sz="120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945" name="圆角矩形 9"/>
          <p:cNvSpPr/>
          <p:nvPr/>
        </p:nvSpPr>
        <p:spPr>
          <a:xfrm>
            <a:off x="1304925" y="4111625"/>
            <a:ext cx="4591050" cy="1476375"/>
          </a:xfrm>
          <a:prstGeom prst="roundRect">
            <a:avLst>
              <a:gd name="adj" fmla="val 9083"/>
            </a:avLst>
          </a:prstGeom>
          <a:noFill/>
          <a:ln w="12700" cap="flat" cmpd="sng">
            <a:solidFill>
              <a:srgbClr val="ADBACA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9950" name="文本框 15"/>
          <p:cNvSpPr txBox="1"/>
          <p:nvPr/>
        </p:nvSpPr>
        <p:spPr>
          <a:xfrm>
            <a:off x="2173288" y="3971925"/>
            <a:ext cx="2797175" cy="198120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defTabSz="1216025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en-US" sz="700" b="1">
                <a:solidFill>
                  <a:schemeClr val="bg1"/>
                </a:solidFill>
                <a:cs typeface="+mn-ea"/>
                <a:sym typeface="+mn-lt"/>
              </a:rPr>
              <a:t>Subtitle</a:t>
            </a:r>
            <a:endParaRPr lang="en-US" altLang="zh-CN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511198" y="697319"/>
            <a:ext cx="6436962" cy="583356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lIns="91426" tIns="45713" rIns="91426" bIns="45713" rtlCol="0" anchor="ctr"/>
          <a:lstStyle/>
          <a:p>
            <a:pPr algn="ctr" defTabSz="913765">
              <a:defRPr/>
            </a:pPr>
            <a:endParaRPr lang="zh-CN" altLang="en-US" sz="3200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56895698-BDF7-41EB-9A45-4F1D8A646B3E}"/>
              </a:ext>
            </a:extLst>
          </p:cNvPr>
          <p:cNvSpPr txBox="1"/>
          <p:nvPr/>
        </p:nvSpPr>
        <p:spPr>
          <a:xfrm>
            <a:off x="4223911" y="572188"/>
            <a:ext cx="2829778" cy="588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dist"/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Team Members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1175E65B-787E-6BD7-4C02-78108C6B827C}"/>
              </a:ext>
            </a:extLst>
          </p:cNvPr>
          <p:cNvSpPr/>
          <p:nvPr/>
        </p:nvSpPr>
        <p:spPr>
          <a:xfrm>
            <a:off x="1584512" y="4471614"/>
            <a:ext cx="3924300" cy="1112222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>
              <a:lnSpc>
                <a:spcPct val="100000"/>
              </a:lnSpc>
            </a:pPr>
            <a:r>
              <a:rPr lang="en-US" altLang="en-US" sz="2000" dirty="0">
                <a:solidFill>
                  <a:schemeClr val="tx1">
                    <a:lumMod val="75000"/>
                  </a:schemeClr>
                </a:solidFill>
                <a:latin typeface="Arial"/>
                <a:cs typeface="+mn-ea"/>
              </a:rPr>
              <a:t>Anik Lal Dey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</a:schemeClr>
                </a:solidFill>
                <a:latin typeface="Arial"/>
                <a:cs typeface="+mn-ea"/>
              </a:rPr>
              <a:t>2020-1-60-228</a:t>
            </a:r>
          </a:p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687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69F2-E5BF-D441-3C8E-CFDD62D6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A72B7F4F-C651-9EC8-4576-4C4D52A50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8596021" y="4849738"/>
            <a:ext cx="3595977" cy="202826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073A54B-089E-F658-63E7-6A37646D4880}"/>
              </a:ext>
            </a:extLst>
          </p:cNvPr>
          <p:cNvSpPr/>
          <p:nvPr/>
        </p:nvSpPr>
        <p:spPr>
          <a:xfrm>
            <a:off x="3722354" y="317136"/>
            <a:ext cx="5095646" cy="75506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Project Overview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DEDDA71E-77A7-4701-04DF-C5034E312E73}"/>
              </a:ext>
            </a:extLst>
          </p:cNvPr>
          <p:cNvSpPr/>
          <p:nvPr/>
        </p:nvSpPr>
        <p:spPr>
          <a:xfrm flipV="1">
            <a:off x="5484000" y="1362055"/>
            <a:ext cx="1224000" cy="54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1AEABCD-A251-AC33-0AA2-69896D672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33936" y="-297863"/>
            <a:ext cx="2812853" cy="2374898"/>
          </a:xfrm>
          <a:prstGeom prst="rect">
            <a:avLst/>
          </a:prstGeom>
        </p:spPr>
      </p:pic>
      <p:sp>
        <p:nvSpPr>
          <p:cNvPr id="42" name="文本框 25">
            <a:extLst>
              <a:ext uri="{FF2B5EF4-FFF2-40B4-BE49-F238E27FC236}">
                <a16:creationId xmlns:a16="http://schemas.microsoft.com/office/drawing/2014/main" id="{28EF2638-3672-FD51-DE3C-102E603B8277}"/>
              </a:ext>
            </a:extLst>
          </p:cNvPr>
          <p:cNvSpPr txBox="1"/>
          <p:nvPr/>
        </p:nvSpPr>
        <p:spPr>
          <a:xfrm>
            <a:off x="696054" y="2498349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  <a:ea typeface="+mn-lt"/>
                <a:cs typeface="+mn-lt"/>
                <a:sym typeface="+mn-lt"/>
              </a:rPr>
              <a:t>Quick Ambulance Access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文本框 25">
            <a:extLst>
              <a:ext uri="{FF2B5EF4-FFF2-40B4-BE49-F238E27FC236}">
                <a16:creationId xmlns:a16="http://schemas.microsoft.com/office/drawing/2014/main" id="{87C1C303-D514-5C07-B383-02F65FB721D4}"/>
              </a:ext>
            </a:extLst>
          </p:cNvPr>
          <p:cNvSpPr txBox="1"/>
          <p:nvPr/>
        </p:nvSpPr>
        <p:spPr>
          <a:xfrm>
            <a:off x="3618548" y="2525243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Enhance Emergency Response</a:t>
            </a: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F5EAC616-9ED4-DD26-420E-E7B567D7100B}"/>
              </a:ext>
            </a:extLst>
          </p:cNvPr>
          <p:cNvSpPr txBox="1"/>
          <p:nvPr/>
        </p:nvSpPr>
        <p:spPr>
          <a:xfrm>
            <a:off x="9723512" y="2561100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     Availability       &amp; Tracking</a:t>
            </a:r>
          </a:p>
        </p:txBody>
      </p:sp>
      <p:sp>
        <p:nvSpPr>
          <p:cNvPr id="49" name="矩形 26">
            <a:extLst>
              <a:ext uri="{FF2B5EF4-FFF2-40B4-BE49-F238E27FC236}">
                <a16:creationId xmlns:a16="http://schemas.microsoft.com/office/drawing/2014/main" id="{E5F5C9DE-29A3-4607-64B6-4D1D08919A10}"/>
              </a:ext>
            </a:extLst>
          </p:cNvPr>
          <p:cNvSpPr/>
          <p:nvPr/>
        </p:nvSpPr>
        <p:spPr>
          <a:xfrm>
            <a:off x="1660613" y="2434866"/>
            <a:ext cx="8868075" cy="32208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ea typeface="+mn-lt"/>
                <a:cs typeface="+mn-lt"/>
                <a:sym typeface="+mn-lt"/>
              </a:rPr>
              <a:t>Ambulance Service Management System is a comprehensive web-based application designed to streamline and optimize the management of ambulance services. In emergency situations, swift and efficient ambulance services can make a critical difference in saving lives. This project aims to provide a robust platform that facilitates the seamless coordination of ambulance resources, drivers, and users.</a:t>
            </a: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5494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51DD9-B6AE-C542-6E4D-795FCF38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8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5336F315-FF1B-A77E-7B11-DBB62DC11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5571969" y="4346130"/>
            <a:ext cx="2119421" cy="1195431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540282E4-FF9A-2C8A-D2CC-608995B6405E}"/>
              </a:ext>
            </a:extLst>
          </p:cNvPr>
          <p:cNvSpPr/>
          <p:nvPr/>
        </p:nvSpPr>
        <p:spPr>
          <a:xfrm>
            <a:off x="2343605" y="1625594"/>
            <a:ext cx="3384305" cy="463167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28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lt"/>
                <a:cs typeface="+mn-lt"/>
                <a:sym typeface="+mn-lt"/>
              </a:rPr>
              <a:t>Technology Stack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32AB9DB2-3275-DE7F-F9DA-85FD69230EE6}"/>
              </a:ext>
            </a:extLst>
          </p:cNvPr>
          <p:cNvSpPr/>
          <p:nvPr/>
        </p:nvSpPr>
        <p:spPr>
          <a:xfrm flipV="1">
            <a:off x="3737785" y="2290537"/>
            <a:ext cx="721409" cy="3182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D1A72DB-1943-D0E9-C8A2-75834E19A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643467" y="1312203"/>
            <a:ext cx="1657858" cy="1399733"/>
          </a:xfrm>
          <a:prstGeom prst="rect">
            <a:avLst/>
          </a:prstGeom>
        </p:spPr>
      </p:pic>
      <p:sp>
        <p:nvSpPr>
          <p:cNvPr id="6" name="矩形 23">
            <a:extLst>
              <a:ext uri="{FF2B5EF4-FFF2-40B4-BE49-F238E27FC236}">
                <a16:creationId xmlns:a16="http://schemas.microsoft.com/office/drawing/2014/main" id="{D9DB4ADB-1835-E2BD-3E28-FF2DCDAC134E}"/>
              </a:ext>
            </a:extLst>
          </p:cNvPr>
          <p:cNvSpPr/>
          <p:nvPr/>
        </p:nvSpPr>
        <p:spPr>
          <a:xfrm>
            <a:off x="867696" y="2657699"/>
            <a:ext cx="2092325" cy="2288333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6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42" name="文本框 25">
            <a:extLst>
              <a:ext uri="{FF2B5EF4-FFF2-40B4-BE49-F238E27FC236}">
                <a16:creationId xmlns:a16="http://schemas.microsoft.com/office/drawing/2014/main" id="{AFB0470B-E0FD-13BE-5568-36AF37DC1654}"/>
              </a:ext>
            </a:extLst>
          </p:cNvPr>
          <p:cNvSpPr txBox="1"/>
          <p:nvPr/>
        </p:nvSpPr>
        <p:spPr>
          <a:xfrm>
            <a:off x="1257072" y="2722840"/>
            <a:ext cx="1187139" cy="4320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b="1" kern="1200">
                <a:solidFill>
                  <a:prstClr val="white"/>
                </a:solidFill>
                <a:latin typeface="Arial"/>
                <a:ea typeface="+mn-lt"/>
                <a:cs typeface="+mn-lt"/>
                <a:sym typeface="+mn-lt"/>
              </a:rPr>
              <a:t>Frontend</a:t>
            </a:r>
            <a:endParaRPr lang="en-US" sz="1600" b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45" name="文本框 25">
            <a:extLst>
              <a:ext uri="{FF2B5EF4-FFF2-40B4-BE49-F238E27FC236}">
                <a16:creationId xmlns:a16="http://schemas.microsoft.com/office/drawing/2014/main" id="{D9123435-B4E9-8923-4734-A35C30282176}"/>
              </a:ext>
            </a:extLst>
          </p:cNvPr>
          <p:cNvSpPr txBox="1"/>
          <p:nvPr/>
        </p:nvSpPr>
        <p:spPr>
          <a:xfrm>
            <a:off x="2659699" y="3061649"/>
            <a:ext cx="1187139" cy="8971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b="1" kern="1200">
                <a:solidFill>
                  <a:prstClr val="white"/>
                </a:solidFill>
                <a:latin typeface="Arial"/>
                <a:ea typeface="+mn-ea"/>
                <a:cs typeface="+mn-cs"/>
              </a:rPr>
              <a:t>Read</a:t>
            </a:r>
            <a:endParaRPr lang="en-US" sz="1600"/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DC31DB44-ED74-C70C-6AC7-7BC6AE4EE443}"/>
              </a:ext>
            </a:extLst>
          </p:cNvPr>
          <p:cNvSpPr txBox="1"/>
          <p:nvPr/>
        </p:nvSpPr>
        <p:spPr>
          <a:xfrm>
            <a:off x="6161645" y="3061397"/>
            <a:ext cx="1187139" cy="330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b="1" kern="1200">
                <a:solidFill>
                  <a:prstClr val="white"/>
                </a:solidFill>
                <a:latin typeface="Arial"/>
                <a:ea typeface="+mn-ea"/>
                <a:cs typeface="+mn-cs"/>
              </a:rPr>
              <a:t>    Delete</a:t>
            </a:r>
            <a:endParaRPr lang="en-US" sz="1600" b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C14DFEEF-AA85-EB84-B381-DDDDFCC1A393}"/>
              </a:ext>
            </a:extLst>
          </p:cNvPr>
          <p:cNvSpPr txBox="1"/>
          <p:nvPr/>
        </p:nvSpPr>
        <p:spPr>
          <a:xfrm>
            <a:off x="4456149" y="3061649"/>
            <a:ext cx="1187139" cy="8971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b="1" kern="1200">
                <a:solidFill>
                  <a:prstClr val="white"/>
                </a:solidFill>
                <a:latin typeface="Arial"/>
                <a:ea typeface="+mn-ea"/>
                <a:cs typeface="+mn-cs"/>
              </a:rPr>
              <a:t>Update</a:t>
            </a:r>
            <a:endParaRPr lang="en-US" sz="1600"/>
          </a:p>
        </p:txBody>
      </p:sp>
      <p:sp>
        <p:nvSpPr>
          <p:cNvPr id="4" name="矩形 23">
            <a:extLst>
              <a:ext uri="{FF2B5EF4-FFF2-40B4-BE49-F238E27FC236}">
                <a16:creationId xmlns:a16="http://schemas.microsoft.com/office/drawing/2014/main" id="{09BF3D16-373A-382C-3541-747C9FFBE73E}"/>
              </a:ext>
            </a:extLst>
          </p:cNvPr>
          <p:cNvSpPr/>
          <p:nvPr/>
        </p:nvSpPr>
        <p:spPr>
          <a:xfrm>
            <a:off x="4212843" y="2629476"/>
            <a:ext cx="1951214" cy="2288332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16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9" name="文本框 25">
            <a:extLst>
              <a:ext uri="{FF2B5EF4-FFF2-40B4-BE49-F238E27FC236}">
                <a16:creationId xmlns:a16="http://schemas.microsoft.com/office/drawing/2014/main" id="{063140B3-7225-1595-CF83-DDCC709A1295}"/>
              </a:ext>
            </a:extLst>
          </p:cNvPr>
          <p:cNvSpPr txBox="1"/>
          <p:nvPr/>
        </p:nvSpPr>
        <p:spPr>
          <a:xfrm>
            <a:off x="4535623" y="2726697"/>
            <a:ext cx="1187139" cy="4320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b="1" kern="1200">
                <a:solidFill>
                  <a:prstClr val="white"/>
                </a:solidFill>
                <a:latin typeface="Arial"/>
                <a:ea typeface="+mn-lt"/>
                <a:cs typeface="+mn-lt"/>
                <a:sym typeface="+mn-lt"/>
              </a:rPr>
              <a:t>Backend</a:t>
            </a:r>
            <a:endParaRPr lang="en-US" sz="1600" b="1">
              <a:solidFill>
                <a:prstClr val="white"/>
              </a:solidFill>
              <a:latin typeface="Arial"/>
            </a:endParaRPr>
          </a:p>
        </p:txBody>
      </p:sp>
      <p:sp>
        <p:nvSpPr>
          <p:cNvPr id="10" name="文本框 25">
            <a:extLst>
              <a:ext uri="{FF2B5EF4-FFF2-40B4-BE49-F238E27FC236}">
                <a16:creationId xmlns:a16="http://schemas.microsoft.com/office/drawing/2014/main" id="{3D302FFB-06A3-4A37-E22A-791CCFF132EC}"/>
              </a:ext>
            </a:extLst>
          </p:cNvPr>
          <p:cNvSpPr txBox="1"/>
          <p:nvPr/>
        </p:nvSpPr>
        <p:spPr>
          <a:xfrm>
            <a:off x="1022700" y="3185013"/>
            <a:ext cx="1513280" cy="16784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kern="1200" dirty="0">
                <a:solidFill>
                  <a:prstClr val="white"/>
                </a:solidFill>
                <a:latin typeface="Arial"/>
                <a:ea typeface="+mn-ea"/>
                <a:cs typeface="+mn-cs"/>
              </a:rPr>
              <a:t>Html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kern="1200" err="1">
                <a:solidFill>
                  <a:prstClr val="white"/>
                </a:solidFill>
                <a:latin typeface="Arial"/>
                <a:ea typeface="+mn-ea"/>
                <a:cs typeface="+mn-cs"/>
              </a:rPr>
              <a:t>Css</a:t>
            </a:r>
            <a:endParaRPr lang="en-US" sz="1600" b="1" kern="1200" dirty="0">
              <a:solidFill>
                <a:prstClr val="white"/>
              </a:solidFill>
              <a:latin typeface="Arial"/>
              <a:ea typeface="+mn-ea"/>
              <a:cs typeface="+mn-cs"/>
            </a:endParaRPr>
          </a:p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kern="1200" dirty="0">
                <a:solidFill>
                  <a:prstClr val="white"/>
                </a:solidFill>
                <a:latin typeface="Arial"/>
                <a:ea typeface="+mn-ea"/>
                <a:cs typeface="+mn-cs"/>
              </a:rPr>
              <a:t>JavaScript</a:t>
            </a:r>
          </a:p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kern="1200" dirty="0">
                <a:solidFill>
                  <a:prstClr val="white"/>
                </a:solidFill>
                <a:latin typeface="Arial"/>
                <a:ea typeface="+mn-ea"/>
                <a:cs typeface="+mn-cs"/>
              </a:rPr>
              <a:t>Ajax</a:t>
            </a:r>
          </a:p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dirty="0">
                <a:solidFill>
                  <a:prstClr val="white"/>
                </a:solidFill>
                <a:latin typeface="Arial"/>
              </a:rPr>
              <a:t>Bootstrap</a:t>
            </a:r>
          </a:p>
        </p:txBody>
      </p:sp>
      <p:sp>
        <p:nvSpPr>
          <p:cNvPr id="11" name="文本框 25">
            <a:extLst>
              <a:ext uri="{FF2B5EF4-FFF2-40B4-BE49-F238E27FC236}">
                <a16:creationId xmlns:a16="http://schemas.microsoft.com/office/drawing/2014/main" id="{7E3AFB73-E963-3294-B2E1-7D98F51F4471}"/>
              </a:ext>
            </a:extLst>
          </p:cNvPr>
          <p:cNvSpPr txBox="1"/>
          <p:nvPr/>
        </p:nvSpPr>
        <p:spPr>
          <a:xfrm>
            <a:off x="4488193" y="3151285"/>
            <a:ext cx="1513280" cy="1057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dirty="0">
                <a:solidFill>
                  <a:prstClr val="white"/>
                </a:solidFill>
                <a:latin typeface="Arial"/>
              </a:rPr>
              <a:t>PHP</a:t>
            </a:r>
          </a:p>
          <a:p>
            <a:pPr marL="264795" indent="-264795" defTabSz="530352">
              <a:spcAft>
                <a:spcPts val="600"/>
              </a:spcAft>
              <a:buAutoNum type="arabicPeriod"/>
            </a:pPr>
            <a:r>
              <a:rPr lang="en-US" sz="1600" b="1" dirty="0">
                <a:solidFill>
                  <a:prstClr val="white"/>
                </a:solidFill>
                <a:latin typeface="Arial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3625722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44D9-DA1E-9F57-D6D0-9B19FBF6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8553B010-F2AE-6090-5CE1-30D9D175F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8596021" y="4849738"/>
            <a:ext cx="3595977" cy="202826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35583E86-BD42-F448-6C9D-9CE896908790}"/>
              </a:ext>
            </a:extLst>
          </p:cNvPr>
          <p:cNvSpPr/>
          <p:nvPr/>
        </p:nvSpPr>
        <p:spPr>
          <a:xfrm>
            <a:off x="3722354" y="317136"/>
            <a:ext cx="5095646" cy="75506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Database Schema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EABB9C7E-6491-668C-9718-ED73D43D6D36}"/>
              </a:ext>
            </a:extLst>
          </p:cNvPr>
          <p:cNvSpPr/>
          <p:nvPr/>
        </p:nvSpPr>
        <p:spPr>
          <a:xfrm flipV="1">
            <a:off x="5484000" y="1362055"/>
            <a:ext cx="1224000" cy="54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740C1F7-5D63-DBD8-3C53-91CD82EC9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33936" y="-297863"/>
            <a:ext cx="2812853" cy="2374898"/>
          </a:xfrm>
          <a:prstGeom prst="rect">
            <a:avLst/>
          </a:prstGeom>
        </p:spPr>
      </p:pic>
      <p:sp>
        <p:nvSpPr>
          <p:cNvPr id="42" name="文本框 25">
            <a:extLst>
              <a:ext uri="{FF2B5EF4-FFF2-40B4-BE49-F238E27FC236}">
                <a16:creationId xmlns:a16="http://schemas.microsoft.com/office/drawing/2014/main" id="{F47F5A2B-C508-D43D-525A-11F66992232D}"/>
              </a:ext>
            </a:extLst>
          </p:cNvPr>
          <p:cNvSpPr txBox="1"/>
          <p:nvPr/>
        </p:nvSpPr>
        <p:spPr>
          <a:xfrm>
            <a:off x="696054" y="2498349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  <a:ea typeface="+mn-lt"/>
                <a:cs typeface="+mn-lt"/>
                <a:sym typeface="+mn-lt"/>
              </a:rPr>
              <a:t>Quick Ambulance Access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文本框 25">
            <a:extLst>
              <a:ext uri="{FF2B5EF4-FFF2-40B4-BE49-F238E27FC236}">
                <a16:creationId xmlns:a16="http://schemas.microsoft.com/office/drawing/2014/main" id="{7C352B81-E54B-4CBB-553A-235EE2253CB6}"/>
              </a:ext>
            </a:extLst>
          </p:cNvPr>
          <p:cNvSpPr txBox="1"/>
          <p:nvPr/>
        </p:nvSpPr>
        <p:spPr>
          <a:xfrm>
            <a:off x="3618548" y="2525243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Enhance Emergency Response</a:t>
            </a: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643792F4-6747-663C-B0A7-D5E79FA4AC91}"/>
              </a:ext>
            </a:extLst>
          </p:cNvPr>
          <p:cNvSpPr txBox="1"/>
          <p:nvPr/>
        </p:nvSpPr>
        <p:spPr>
          <a:xfrm>
            <a:off x="9723512" y="2561100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     Availability       &amp; Tracking</a:t>
            </a:r>
          </a:p>
        </p:txBody>
      </p:sp>
      <p:sp>
        <p:nvSpPr>
          <p:cNvPr id="49" name="矩形 26">
            <a:extLst>
              <a:ext uri="{FF2B5EF4-FFF2-40B4-BE49-F238E27FC236}">
                <a16:creationId xmlns:a16="http://schemas.microsoft.com/office/drawing/2014/main" id="{5C39897A-11AA-285C-96DC-3A2319C30DF8}"/>
              </a:ext>
            </a:extLst>
          </p:cNvPr>
          <p:cNvSpPr/>
          <p:nvPr/>
        </p:nvSpPr>
        <p:spPr>
          <a:xfrm>
            <a:off x="1646236" y="2434866"/>
            <a:ext cx="2211359" cy="32208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ea typeface="+mn-lt"/>
                <a:cs typeface="+mn-lt"/>
                <a:sym typeface="+mn-lt"/>
              </a:rPr>
              <a:t>Ambulance Service </a:t>
            </a:r>
            <a:endParaRPr lang="en-US" sz="2000" dirty="0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8F07382-9475-DF20-2D26-3E35FD7DC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" y="1682524"/>
            <a:ext cx="12179753" cy="517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88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2D26B188-0347-4E22-96C2-EE61C5113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8596021" y="4849738"/>
            <a:ext cx="3595977" cy="2028262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727249" y="4448724"/>
            <a:ext cx="1883076" cy="119788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ea typeface="+mn-lt"/>
                <a:cs typeface="+mn-lt"/>
                <a:sym typeface="+mn-lt"/>
              </a:rPr>
              <a:t>Deleting refers to the removal or elimination of existing data from the system.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B6C7D4-E286-42D2-B121-DE52A6CB5FBE}"/>
              </a:ext>
            </a:extLst>
          </p:cNvPr>
          <p:cNvSpPr/>
          <p:nvPr/>
        </p:nvSpPr>
        <p:spPr>
          <a:xfrm>
            <a:off x="3468354" y="326207"/>
            <a:ext cx="5095646" cy="75506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CRUD</a:t>
            </a:r>
            <a:endParaRPr lang="en-US" altLang="zh-CN" dirty="0"/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B5B6646F-59DF-4447-9332-B282928BA064}"/>
              </a:ext>
            </a:extLst>
          </p:cNvPr>
          <p:cNvSpPr/>
          <p:nvPr/>
        </p:nvSpPr>
        <p:spPr>
          <a:xfrm flipV="1">
            <a:off x="5484000" y="1362055"/>
            <a:ext cx="1224000" cy="54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CFB3C65-5ECA-45C0-9345-4A3FF7711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33936" y="-297863"/>
            <a:ext cx="2812853" cy="2374898"/>
          </a:xfrm>
          <a:prstGeom prst="rect">
            <a:avLst/>
          </a:prstGeom>
        </p:spPr>
      </p:pic>
      <p:sp>
        <p:nvSpPr>
          <p:cNvPr id="6" name="矩形 23">
            <a:extLst>
              <a:ext uri="{FF2B5EF4-FFF2-40B4-BE49-F238E27FC236}">
                <a16:creationId xmlns:a16="http://schemas.microsoft.com/office/drawing/2014/main" id="{AC2DD0D1-445D-BFBF-C687-5D6DFE59D601}"/>
              </a:ext>
            </a:extLst>
          </p:cNvPr>
          <p:cNvSpPr/>
          <p:nvPr/>
        </p:nvSpPr>
        <p:spPr>
          <a:xfrm>
            <a:off x="694987" y="2079743"/>
            <a:ext cx="2088232" cy="2088232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8" name="矩形 23">
            <a:extLst>
              <a:ext uri="{FF2B5EF4-FFF2-40B4-BE49-F238E27FC236}">
                <a16:creationId xmlns:a16="http://schemas.microsoft.com/office/drawing/2014/main" id="{73D233D8-9248-EA01-608B-58FE9B9266D6}"/>
              </a:ext>
            </a:extLst>
          </p:cNvPr>
          <p:cNvSpPr/>
          <p:nvPr/>
        </p:nvSpPr>
        <p:spPr>
          <a:xfrm>
            <a:off x="9686586" y="2079742"/>
            <a:ext cx="2088232" cy="2088232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/>
              <a:cs typeface="Arial"/>
              <a:sym typeface="+mn-lt"/>
            </a:endParaRPr>
          </a:p>
        </p:txBody>
      </p:sp>
      <p:sp>
        <p:nvSpPr>
          <p:cNvPr id="40" name="矩形 23">
            <a:extLst>
              <a:ext uri="{FF2B5EF4-FFF2-40B4-BE49-F238E27FC236}">
                <a16:creationId xmlns:a16="http://schemas.microsoft.com/office/drawing/2014/main" id="{09B1AD8E-5430-BF4A-CC59-6E801A769F4B}"/>
              </a:ext>
            </a:extLst>
          </p:cNvPr>
          <p:cNvSpPr/>
          <p:nvPr/>
        </p:nvSpPr>
        <p:spPr>
          <a:xfrm>
            <a:off x="3581621" y="2079742"/>
            <a:ext cx="2088232" cy="2088232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/>
              <a:cs typeface="Arial"/>
              <a:sym typeface="+mn-lt"/>
            </a:endParaRPr>
          </a:p>
        </p:txBody>
      </p:sp>
      <p:sp>
        <p:nvSpPr>
          <p:cNvPr id="42" name="文本框 25">
            <a:extLst>
              <a:ext uri="{FF2B5EF4-FFF2-40B4-BE49-F238E27FC236}">
                <a16:creationId xmlns:a16="http://schemas.microsoft.com/office/drawing/2014/main" id="{1336AB4F-58E8-2EAA-45F9-92C1CAB6CBE8}"/>
              </a:ext>
            </a:extLst>
          </p:cNvPr>
          <p:cNvSpPr txBox="1"/>
          <p:nvPr/>
        </p:nvSpPr>
        <p:spPr>
          <a:xfrm>
            <a:off x="759554" y="2670707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  <a:ea typeface="+mn-lt"/>
                <a:cs typeface="+mn-lt"/>
                <a:sym typeface="+mn-lt"/>
              </a:rPr>
              <a:t>Create</a:t>
            </a:r>
            <a:endParaRPr lang="en-US" sz="2000" b="1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5" name="文本框 25">
            <a:extLst>
              <a:ext uri="{FF2B5EF4-FFF2-40B4-BE49-F238E27FC236}">
                <a16:creationId xmlns:a16="http://schemas.microsoft.com/office/drawing/2014/main" id="{DA178014-53D9-B081-39EA-C5DAAF34C96B}"/>
              </a:ext>
            </a:extLst>
          </p:cNvPr>
          <p:cNvSpPr txBox="1"/>
          <p:nvPr/>
        </p:nvSpPr>
        <p:spPr>
          <a:xfrm>
            <a:off x="3654834" y="2670386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Read</a:t>
            </a:r>
            <a:endParaRPr lang="en-US" dirty="0"/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17C3BF3E-9BBB-A6B1-99A1-C44B41A53304}"/>
              </a:ext>
            </a:extLst>
          </p:cNvPr>
          <p:cNvSpPr txBox="1"/>
          <p:nvPr/>
        </p:nvSpPr>
        <p:spPr>
          <a:xfrm>
            <a:off x="9596512" y="2669957"/>
            <a:ext cx="2014193" cy="5606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    Delete</a:t>
            </a:r>
          </a:p>
        </p:txBody>
      </p:sp>
      <p:sp>
        <p:nvSpPr>
          <p:cNvPr id="48" name="矩形 26">
            <a:extLst>
              <a:ext uri="{FF2B5EF4-FFF2-40B4-BE49-F238E27FC236}">
                <a16:creationId xmlns:a16="http://schemas.microsoft.com/office/drawing/2014/main" id="{215D6E93-E176-C9C9-2FB9-083D96E720C8}"/>
              </a:ext>
            </a:extLst>
          </p:cNvPr>
          <p:cNvSpPr/>
          <p:nvPr/>
        </p:nvSpPr>
        <p:spPr>
          <a:xfrm>
            <a:off x="3747789" y="4448723"/>
            <a:ext cx="1883076" cy="119788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ea typeface="+mn-lt"/>
                <a:cs typeface="+mn-lt"/>
                <a:sym typeface="+mn-lt"/>
              </a:rPr>
              <a:t>Reading involves retrieving or accessing existing data from the system without modifying it.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49" name="矩形 26">
            <a:extLst>
              <a:ext uri="{FF2B5EF4-FFF2-40B4-BE49-F238E27FC236}">
                <a16:creationId xmlns:a16="http://schemas.microsoft.com/office/drawing/2014/main" id="{0BAA7622-83C2-235E-433F-90C28DA63ABB}"/>
              </a:ext>
            </a:extLst>
          </p:cNvPr>
          <p:cNvSpPr/>
          <p:nvPr/>
        </p:nvSpPr>
        <p:spPr>
          <a:xfrm>
            <a:off x="762542" y="4448723"/>
            <a:ext cx="1883076" cy="119788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ea typeface="+mn-lt"/>
                <a:cs typeface="+mn-lt"/>
                <a:sym typeface="+mn-lt"/>
              </a:rPr>
              <a:t>Creating refers to the process of adding new data or records to the system.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50" name="矩形 26">
            <a:extLst>
              <a:ext uri="{FF2B5EF4-FFF2-40B4-BE49-F238E27FC236}">
                <a16:creationId xmlns:a16="http://schemas.microsoft.com/office/drawing/2014/main" id="{D6179AB8-06F9-A61E-F663-E6698A1AF536}"/>
              </a:ext>
            </a:extLst>
          </p:cNvPr>
          <p:cNvSpPr/>
          <p:nvPr/>
        </p:nvSpPr>
        <p:spPr>
          <a:xfrm>
            <a:off x="6706141" y="4448723"/>
            <a:ext cx="1883076" cy="119788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ea typeface="+mn-lt"/>
                <a:cs typeface="+mn-lt"/>
                <a:sym typeface="+mn-lt"/>
              </a:rPr>
              <a:t>Updating involves modifying or changing the existing data in the system.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2" name="矩形 23">
            <a:extLst>
              <a:ext uri="{FF2B5EF4-FFF2-40B4-BE49-F238E27FC236}">
                <a16:creationId xmlns:a16="http://schemas.microsoft.com/office/drawing/2014/main" id="{00808517-B120-0107-45AE-7D5E80215971}"/>
              </a:ext>
            </a:extLst>
          </p:cNvPr>
          <p:cNvSpPr/>
          <p:nvPr/>
        </p:nvSpPr>
        <p:spPr>
          <a:xfrm>
            <a:off x="6665799" y="2079741"/>
            <a:ext cx="2088232" cy="2088232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/>
              <a:cs typeface="Arial"/>
              <a:sym typeface="+mn-lt"/>
            </a:endParaRP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A8705917-3A37-C789-30FB-05D2ED37ADFB}"/>
              </a:ext>
            </a:extLst>
          </p:cNvPr>
          <p:cNvSpPr txBox="1"/>
          <p:nvPr/>
        </p:nvSpPr>
        <p:spPr>
          <a:xfrm>
            <a:off x="6702833" y="2670385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9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F9A98-AD10-137A-7215-B25EB836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7A96839-BD54-3D2C-45FE-7AD826B016A6}"/>
              </a:ext>
            </a:extLst>
          </p:cNvPr>
          <p:cNvSpPr/>
          <p:nvPr/>
        </p:nvSpPr>
        <p:spPr>
          <a:xfrm>
            <a:off x="5066553" y="1120694"/>
            <a:ext cx="3954131" cy="585916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 defTabSz="704088">
              <a:lnSpc>
                <a:spcPct val="90000"/>
              </a:lnSpc>
              <a:spcAft>
                <a:spcPts val="600"/>
              </a:spcAft>
            </a:pPr>
            <a:r>
              <a:rPr lang="en-US" altLang="zh-CN" sz="3388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Create</a:t>
            </a:r>
            <a:endParaRPr lang="en-US" altLang="zh-CN"/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E83A12EE-23DB-0ED8-2FFF-1FFAE25376AC}"/>
              </a:ext>
            </a:extLst>
          </p:cNvPr>
          <p:cNvSpPr/>
          <p:nvPr/>
        </p:nvSpPr>
        <p:spPr>
          <a:xfrm flipV="1">
            <a:off x="6567305" y="1931533"/>
            <a:ext cx="949802" cy="4190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40B387A-46FD-5EAC-1EA7-00F45EBD2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493349" y="643466"/>
            <a:ext cx="1767407" cy="1490915"/>
          </a:xfrm>
          <a:prstGeom prst="rect">
            <a:avLst/>
          </a:prstGeom>
        </p:spPr>
      </p:pic>
      <p:sp>
        <p:nvSpPr>
          <p:cNvPr id="49" name="矩形 26">
            <a:extLst>
              <a:ext uri="{FF2B5EF4-FFF2-40B4-BE49-F238E27FC236}">
                <a16:creationId xmlns:a16="http://schemas.microsoft.com/office/drawing/2014/main" id="{FECA0F7B-029C-0C51-0711-8C86DA6F8404}"/>
              </a:ext>
            </a:extLst>
          </p:cNvPr>
          <p:cNvSpPr/>
          <p:nvPr/>
        </p:nvSpPr>
        <p:spPr>
          <a:xfrm>
            <a:off x="2312239" y="2116403"/>
            <a:ext cx="6881468" cy="85210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351790" indent="-351790" defTabSz="704088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Users can register with information stored in the Users tables.</a:t>
            </a:r>
            <a:endParaRPr lang="en-US" sz="1200" kern="1200" dirty="0">
              <a:latin typeface="+mn-lt"/>
              <a:ea typeface="+mn-lt"/>
              <a:cs typeface="Arial"/>
            </a:endParaRPr>
          </a:p>
          <a:p>
            <a:pPr marL="351790" indent="-351790" defTabSz="704088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Drivers can enroll with information stored in Drivers Table</a:t>
            </a:r>
            <a:endParaRPr lang="en-US" sz="1200" kern="1200" dirty="0">
              <a:latin typeface="+mn-lt"/>
              <a:ea typeface="+mn-ea"/>
              <a:cs typeface="+mn-cs"/>
            </a:endParaRPr>
          </a:p>
          <a:p>
            <a:pPr defTabSz="704088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en-US" sz="924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351790" indent="-351790" defTabSz="704088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924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defTabSz="704088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en-US" sz="924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351790" indent="-351790" defTabSz="704088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924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1200">
              <a:ea typeface="+mn-lt"/>
              <a:cs typeface="+mn-lt"/>
            </a:endParaRPr>
          </a:p>
        </p:txBody>
      </p:sp>
      <p:pic>
        <p:nvPicPr>
          <p:cNvPr id="3" name="Picture 2" descr="A screen shot of a login form&#10;&#10;Description automatically generated">
            <a:extLst>
              <a:ext uri="{FF2B5EF4-FFF2-40B4-BE49-F238E27FC236}">
                <a16:creationId xmlns:a16="http://schemas.microsoft.com/office/drawing/2014/main" id="{EB4F0504-0B44-4F00-70F5-D172B287D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051" y="2789730"/>
            <a:ext cx="3341263" cy="375544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874B9F1-AB75-39A2-5DF1-1D89D8C1A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974" y="2186861"/>
            <a:ext cx="3477667" cy="434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51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649B-65E3-1D80-0B70-619F15F26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9D5E4B5-9666-6DEE-2070-E89517A6B401}"/>
              </a:ext>
            </a:extLst>
          </p:cNvPr>
          <p:cNvSpPr/>
          <p:nvPr/>
        </p:nvSpPr>
        <p:spPr>
          <a:xfrm>
            <a:off x="4231391" y="1138689"/>
            <a:ext cx="4103230" cy="608010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 defTabSz="731520">
              <a:lnSpc>
                <a:spcPct val="90000"/>
              </a:lnSpc>
              <a:spcAft>
                <a:spcPts val="600"/>
              </a:spcAft>
            </a:pPr>
            <a:r>
              <a:rPr lang="en-US" altLang="zh-CN" sz="352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Create</a:t>
            </a:r>
            <a:endParaRPr lang="en-US" altLang="zh-CN"/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8F795797-04DF-075D-CC6F-EF9C733EC327}"/>
              </a:ext>
            </a:extLst>
          </p:cNvPr>
          <p:cNvSpPr/>
          <p:nvPr/>
        </p:nvSpPr>
        <p:spPr>
          <a:xfrm flipV="1">
            <a:off x="5788732" y="1980102"/>
            <a:ext cx="985617" cy="434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B79C98F3-7BE6-BBB3-5E95-4C6BE1D68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1561158" y="643466"/>
            <a:ext cx="1834051" cy="1547134"/>
          </a:xfrm>
          <a:prstGeom prst="rect">
            <a:avLst/>
          </a:prstGeom>
        </p:spPr>
      </p:pic>
      <p:sp>
        <p:nvSpPr>
          <p:cNvPr id="49" name="矩形 26">
            <a:extLst>
              <a:ext uri="{FF2B5EF4-FFF2-40B4-BE49-F238E27FC236}">
                <a16:creationId xmlns:a16="http://schemas.microsoft.com/office/drawing/2014/main" id="{5C2E93C0-5102-1FEA-1083-15553A40E849}"/>
              </a:ext>
            </a:extLst>
          </p:cNvPr>
          <p:cNvSpPr/>
          <p:nvPr/>
        </p:nvSpPr>
        <p:spPr>
          <a:xfrm>
            <a:off x="1312259" y="1887463"/>
            <a:ext cx="7140950" cy="88423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defTabSz="73152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en-US" sz="1200" kern="1200" dirty="0">
              <a:latin typeface="+mn-lt"/>
              <a:ea typeface="+mn-ea"/>
              <a:cs typeface="+mn-cs"/>
            </a:endParaRPr>
          </a:p>
          <a:p>
            <a:pPr marL="365760" indent="-365760" defTabSz="73152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Create Vehicle stored  Information in Vehicle Table.</a:t>
            </a:r>
          </a:p>
          <a:p>
            <a:pPr marL="365760" indent="-365760" defTabSz="73152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Ambulance Services are initiated and creating entries in Services Table</a:t>
            </a:r>
          </a:p>
          <a:p>
            <a:pPr marL="365760" indent="-365760" defTabSz="73152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96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defTabSz="73152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en-US" sz="96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365760" indent="-365760" defTabSz="73152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96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1200">
              <a:ea typeface="+mn-lt"/>
              <a:cs typeface="+mn-lt"/>
            </a:endParaRPr>
          </a:p>
        </p:txBody>
      </p:sp>
      <p:pic>
        <p:nvPicPr>
          <p:cNvPr id="6" name="Picture 5" descr="A screenshot of a medical form&#10;&#10;Description automatically generated">
            <a:extLst>
              <a:ext uri="{FF2B5EF4-FFF2-40B4-BE49-F238E27FC236}">
                <a16:creationId xmlns:a16="http://schemas.microsoft.com/office/drawing/2014/main" id="{9A1BE95E-217E-289C-90AA-6118112CC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436" y="2766792"/>
            <a:ext cx="4725344" cy="3623442"/>
          </a:xfrm>
          <a:prstGeom prst="rect">
            <a:avLst/>
          </a:prstGeom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C4B227DD-8579-7268-7253-5A4E89560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68295"/>
            <a:ext cx="4927600" cy="379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08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0D11C-F68E-553A-7CC4-3C2BA3AB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60BDB3E9-0E4D-63E5-EF97-4B52A0A94ACB}"/>
              </a:ext>
            </a:extLst>
          </p:cNvPr>
          <p:cNvSpPr/>
          <p:nvPr/>
        </p:nvSpPr>
        <p:spPr>
          <a:xfrm>
            <a:off x="3842607" y="749790"/>
            <a:ext cx="4011548" cy="59442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 defTabSz="713232">
              <a:lnSpc>
                <a:spcPct val="90000"/>
              </a:lnSpc>
              <a:spcAft>
                <a:spcPts val="600"/>
              </a:spcAft>
            </a:pPr>
            <a:r>
              <a:rPr lang="en-US" altLang="zh-CN" sz="3432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Read</a:t>
            </a:r>
            <a:endParaRPr lang="en-US" altLang="zh-C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E1895950-3305-6B40-0C8C-9E1B7F607B9D}"/>
              </a:ext>
            </a:extLst>
          </p:cNvPr>
          <p:cNvSpPr/>
          <p:nvPr/>
        </p:nvSpPr>
        <p:spPr>
          <a:xfrm flipV="1">
            <a:off x="5636453" y="1950237"/>
            <a:ext cx="963594" cy="4251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1ED9268-A0A1-2E1A-D5DF-552A231C4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1320459" y="267546"/>
            <a:ext cx="2214419" cy="1869639"/>
          </a:xfrm>
          <a:prstGeom prst="rect">
            <a:avLst/>
          </a:prstGeom>
        </p:spPr>
      </p:pic>
      <p:sp>
        <p:nvSpPr>
          <p:cNvPr id="49" name="矩形 26">
            <a:extLst>
              <a:ext uri="{FF2B5EF4-FFF2-40B4-BE49-F238E27FC236}">
                <a16:creationId xmlns:a16="http://schemas.microsoft.com/office/drawing/2014/main" id="{BBA62319-DB8B-6BFE-A84E-46DB3C83CCDE}"/>
              </a:ext>
            </a:extLst>
          </p:cNvPr>
          <p:cNvSpPr/>
          <p:nvPr/>
        </p:nvSpPr>
        <p:spPr>
          <a:xfrm>
            <a:off x="1106240" y="1812671"/>
            <a:ext cx="6981394" cy="92875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356235" indent="-356235"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Users can read and view his information.</a:t>
            </a:r>
            <a:endParaRPr lang="en-US" sz="1200" kern="1200" dirty="0">
              <a:latin typeface="+mn-lt"/>
              <a:ea typeface="+mn-lt"/>
              <a:cs typeface="Arial"/>
            </a:endParaRPr>
          </a:p>
          <a:p>
            <a:pPr marL="356235" indent="-356235"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Drivers can read and view about his and vehicles Information</a:t>
            </a:r>
            <a:endParaRPr lang="en-US" sz="1200" kern="1200" dirty="0">
              <a:latin typeface="+mn-lt"/>
              <a:ea typeface="+mn-ea"/>
              <a:cs typeface="+mn-cs"/>
            </a:endParaRPr>
          </a:p>
          <a:p>
            <a:pPr marL="356235" indent="-356235"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200" kern="1200" dirty="0">
                <a:latin typeface="+mn-lt"/>
                <a:ea typeface="+mn-lt"/>
                <a:cs typeface="+mn-lt"/>
              </a:rPr>
              <a:t>User can search ambulances bases on location</a:t>
            </a:r>
          </a:p>
          <a:p>
            <a:pPr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en-US" sz="936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356235" indent="-356235"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936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en-US" sz="936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356235" indent="-356235" defTabSz="713232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936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endParaRPr lang="en-US" sz="1200">
              <a:ea typeface="+mn-lt"/>
              <a:cs typeface="+mn-lt"/>
            </a:endParaRPr>
          </a:p>
        </p:txBody>
      </p:sp>
      <p:pic>
        <p:nvPicPr>
          <p:cNvPr id="3" name="Picture 2" descr="A screenshot of a user profile&#10;&#10;Description automatically generated">
            <a:extLst>
              <a:ext uri="{FF2B5EF4-FFF2-40B4-BE49-F238E27FC236}">
                <a16:creationId xmlns:a16="http://schemas.microsoft.com/office/drawing/2014/main" id="{6C557B51-A2B0-5D3D-F07F-EE4C4F9CA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276" y="2917593"/>
            <a:ext cx="3660805" cy="3296940"/>
          </a:xfrm>
          <a:prstGeom prst="rect">
            <a:avLst/>
          </a:prstGeom>
        </p:spPr>
      </p:pic>
      <p:pic>
        <p:nvPicPr>
          <p:cNvPr id="4" name="Picture 3" descr="A toy ambulance on a purple and blue background&#10;&#10;Description automatically generated">
            <a:extLst>
              <a:ext uri="{FF2B5EF4-FFF2-40B4-BE49-F238E27FC236}">
                <a16:creationId xmlns:a16="http://schemas.microsoft.com/office/drawing/2014/main" id="{93661686-7001-D42F-2A82-F8A1CF534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167" y="1596561"/>
            <a:ext cx="5234593" cy="2734683"/>
          </a:xfrm>
          <a:prstGeom prst="rect">
            <a:avLst/>
          </a:prstGeom>
        </p:spPr>
      </p:pic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77DAD903-DED0-938D-92A7-F9591C2212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594" y="4521901"/>
            <a:ext cx="4455929" cy="165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210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5330C-C14E-DD92-2B57-5F3483D1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10C9510F-692C-B2CA-7EE2-FC0B51D5DB77}"/>
              </a:ext>
            </a:extLst>
          </p:cNvPr>
          <p:cNvSpPr/>
          <p:nvPr/>
        </p:nvSpPr>
        <p:spPr>
          <a:xfrm>
            <a:off x="3540925" y="353422"/>
            <a:ext cx="5095646" cy="75506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Read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F9AB4E8F-4709-F7CE-D1CF-ADFA797AE809}"/>
              </a:ext>
            </a:extLst>
          </p:cNvPr>
          <p:cNvSpPr/>
          <p:nvPr/>
        </p:nvSpPr>
        <p:spPr>
          <a:xfrm flipV="1">
            <a:off x="5484000" y="1362055"/>
            <a:ext cx="1224000" cy="54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1218F53-BBFD-3E3A-A1E8-7C0678343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33936" y="-297863"/>
            <a:ext cx="2812853" cy="2374898"/>
          </a:xfrm>
          <a:prstGeom prst="rect">
            <a:avLst/>
          </a:prstGeom>
        </p:spPr>
      </p:pic>
      <p:sp>
        <p:nvSpPr>
          <p:cNvPr id="49" name="矩形 26">
            <a:extLst>
              <a:ext uri="{FF2B5EF4-FFF2-40B4-BE49-F238E27FC236}">
                <a16:creationId xmlns:a16="http://schemas.microsoft.com/office/drawing/2014/main" id="{734A37D9-A7BD-1D88-7465-8229286CE4A6}"/>
              </a:ext>
            </a:extLst>
          </p:cNvPr>
          <p:cNvSpPr/>
          <p:nvPr/>
        </p:nvSpPr>
        <p:spPr>
          <a:xfrm>
            <a:off x="542" y="1600295"/>
            <a:ext cx="8868075" cy="117974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1200" dirty="0">
                <a:ea typeface="+mn-lt"/>
                <a:cs typeface="+mn-lt"/>
              </a:rPr>
              <a:t>Admin can see all the user and driver information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1200" dirty="0">
                <a:ea typeface="+mn-lt"/>
                <a:cs typeface="+mn-lt"/>
              </a:rPr>
              <a:t>Ongoing and past services can be viewed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</p:txBody>
      </p:sp>
      <p:pic>
        <p:nvPicPr>
          <p:cNvPr id="5" name="Picture 4" descr="A screenshot of a phone number&#10;&#10;Description automatically generated">
            <a:extLst>
              <a:ext uri="{FF2B5EF4-FFF2-40B4-BE49-F238E27FC236}">
                <a16:creationId xmlns:a16="http://schemas.microsoft.com/office/drawing/2014/main" id="{B32D6E62-36D1-6827-0C97-F542A70E2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35" y="2533915"/>
            <a:ext cx="5593897" cy="432435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DD1D0EC-8AAD-15BD-EA94-C7E0F866E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854" y="1822121"/>
            <a:ext cx="6243429" cy="490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3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0460-D099-6545-CFB5-8267F8B7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0DF36B7-95C4-CF6B-ADCE-A5D229F8AD15}"/>
              </a:ext>
            </a:extLst>
          </p:cNvPr>
          <p:cNvSpPr/>
          <p:nvPr/>
        </p:nvSpPr>
        <p:spPr>
          <a:xfrm>
            <a:off x="3549997" y="326207"/>
            <a:ext cx="5095646" cy="75506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Update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1A68FCCC-4F38-AEF0-4222-816BDD85505B}"/>
              </a:ext>
            </a:extLst>
          </p:cNvPr>
          <p:cNvSpPr/>
          <p:nvPr/>
        </p:nvSpPr>
        <p:spPr>
          <a:xfrm flipV="1">
            <a:off x="5484000" y="1362055"/>
            <a:ext cx="1224000" cy="54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FA7BC20-66E4-0BE7-D19A-2B76A4F8A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33936" y="-297863"/>
            <a:ext cx="2449996" cy="2066470"/>
          </a:xfrm>
          <a:prstGeom prst="rect">
            <a:avLst/>
          </a:prstGeom>
        </p:spPr>
      </p:pic>
      <p:sp>
        <p:nvSpPr>
          <p:cNvPr id="42" name="文本框 25">
            <a:extLst>
              <a:ext uri="{FF2B5EF4-FFF2-40B4-BE49-F238E27FC236}">
                <a16:creationId xmlns:a16="http://schemas.microsoft.com/office/drawing/2014/main" id="{5E0A3A5E-172E-026C-B8BB-7F3CBC5B97F9}"/>
              </a:ext>
            </a:extLst>
          </p:cNvPr>
          <p:cNvSpPr txBox="1"/>
          <p:nvPr/>
        </p:nvSpPr>
        <p:spPr>
          <a:xfrm>
            <a:off x="696054" y="2498349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  <a:ea typeface="+mn-lt"/>
                <a:cs typeface="+mn-lt"/>
                <a:sym typeface="+mn-lt"/>
              </a:rPr>
              <a:t>Quick Ambulance Access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2010B789-59FA-87A5-7090-8F07892073B6}"/>
              </a:ext>
            </a:extLst>
          </p:cNvPr>
          <p:cNvSpPr txBox="1"/>
          <p:nvPr/>
        </p:nvSpPr>
        <p:spPr>
          <a:xfrm>
            <a:off x="9723512" y="2561100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     Availability       &amp; Tracking</a:t>
            </a:r>
          </a:p>
        </p:txBody>
      </p:sp>
      <p:sp>
        <p:nvSpPr>
          <p:cNvPr id="49" name="矩形 26">
            <a:extLst>
              <a:ext uri="{FF2B5EF4-FFF2-40B4-BE49-F238E27FC236}">
                <a16:creationId xmlns:a16="http://schemas.microsoft.com/office/drawing/2014/main" id="{CBE85229-A740-5674-D281-AFAB07ECEFBA}"/>
              </a:ext>
            </a:extLst>
          </p:cNvPr>
          <p:cNvSpPr/>
          <p:nvPr/>
        </p:nvSpPr>
        <p:spPr>
          <a:xfrm>
            <a:off x="542" y="1600295"/>
            <a:ext cx="8868075" cy="708026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1200" dirty="0">
                <a:ea typeface="+mn-lt"/>
                <a:cs typeface="+mn-lt"/>
              </a:rPr>
              <a:t>Users can change the information about himself and update it.</a:t>
            </a:r>
            <a:endParaRPr lang="en-US">
              <a:ea typeface="+mn-lt"/>
              <a:cs typeface="Arial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1200" dirty="0">
                <a:ea typeface="+mn-lt"/>
                <a:cs typeface="+mn-lt"/>
              </a:rPr>
              <a:t>Service status of </a:t>
            </a:r>
            <a:r>
              <a:rPr lang="en-US" sz="1200" dirty="0" err="1">
                <a:ea typeface="+mn-lt"/>
                <a:cs typeface="+mn-lt"/>
              </a:rPr>
              <a:t>a</a:t>
            </a:r>
            <a:r>
              <a:rPr lang="en-US" sz="1200" dirty="0">
                <a:ea typeface="+mn-lt"/>
                <a:cs typeface="+mn-lt"/>
              </a:rPr>
              <a:t> ongoing service can be updated, reflecting changes in the database.</a:t>
            </a:r>
            <a:endParaRPr lang="en-US" dirty="0"/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0ED45E02-5F0A-D4A0-D04D-0F171327D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68" y="2312079"/>
            <a:ext cx="4555219" cy="416605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42B3532-0720-DAEB-0581-775D0268C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623" y="2320955"/>
            <a:ext cx="4776339" cy="40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50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F5B3-7312-AAAE-61F9-08D1F4D6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6C152C2C-B61C-CAC0-D366-0C8C936A0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8596021" y="4849738"/>
            <a:ext cx="3595977" cy="202826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CADE12CA-0F4E-E5D4-FB77-0ECD3695B2AE}"/>
              </a:ext>
            </a:extLst>
          </p:cNvPr>
          <p:cNvSpPr/>
          <p:nvPr/>
        </p:nvSpPr>
        <p:spPr>
          <a:xfrm>
            <a:off x="3577211" y="335279"/>
            <a:ext cx="5095646" cy="755064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Delete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3A9CCC37-6F12-EF1B-133D-DDCA3144D947}"/>
              </a:ext>
            </a:extLst>
          </p:cNvPr>
          <p:cNvSpPr/>
          <p:nvPr/>
        </p:nvSpPr>
        <p:spPr>
          <a:xfrm flipV="1">
            <a:off x="5484000" y="1362055"/>
            <a:ext cx="1224000" cy="54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6EFB8AA2-FBC1-DC3A-EE81-2B3216206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33936" y="-297863"/>
            <a:ext cx="2150639" cy="1812470"/>
          </a:xfrm>
          <a:prstGeom prst="rect">
            <a:avLst/>
          </a:prstGeom>
        </p:spPr>
      </p:pic>
      <p:sp>
        <p:nvSpPr>
          <p:cNvPr id="45" name="文本框 25">
            <a:extLst>
              <a:ext uri="{FF2B5EF4-FFF2-40B4-BE49-F238E27FC236}">
                <a16:creationId xmlns:a16="http://schemas.microsoft.com/office/drawing/2014/main" id="{E2C7E7F5-109E-0964-64B3-6EA3D6ECDAF5}"/>
              </a:ext>
            </a:extLst>
          </p:cNvPr>
          <p:cNvSpPr txBox="1"/>
          <p:nvPr/>
        </p:nvSpPr>
        <p:spPr>
          <a:xfrm>
            <a:off x="3618548" y="2525243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Enhance Emergency Response</a:t>
            </a: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E3105D50-F3FF-39F6-FE35-F788DB7F0D2B}"/>
              </a:ext>
            </a:extLst>
          </p:cNvPr>
          <p:cNvSpPr txBox="1"/>
          <p:nvPr/>
        </p:nvSpPr>
        <p:spPr>
          <a:xfrm>
            <a:off x="9723512" y="2561100"/>
            <a:ext cx="2014193" cy="1522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Arial"/>
              </a:rPr>
              <a:t>     Availability       &amp; Tracking</a:t>
            </a:r>
          </a:p>
        </p:txBody>
      </p:sp>
      <p:sp>
        <p:nvSpPr>
          <p:cNvPr id="49" name="矩形 26">
            <a:extLst>
              <a:ext uri="{FF2B5EF4-FFF2-40B4-BE49-F238E27FC236}">
                <a16:creationId xmlns:a16="http://schemas.microsoft.com/office/drawing/2014/main" id="{2E56CD8E-08D5-D194-D916-91C9FF586DD5}"/>
              </a:ext>
            </a:extLst>
          </p:cNvPr>
          <p:cNvSpPr/>
          <p:nvPr/>
        </p:nvSpPr>
        <p:spPr>
          <a:xfrm>
            <a:off x="542" y="1600295"/>
            <a:ext cx="8868075" cy="117974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1600" dirty="0">
                <a:ea typeface="+mn-lt"/>
                <a:cs typeface="+mn-lt"/>
              </a:rPr>
              <a:t>Admins have the capability to remove users, drivers, and services from the system.</a:t>
            </a:r>
            <a:endParaRPr lang="en-US" sz="1600">
              <a:ea typeface="+mn-lt"/>
              <a:cs typeface="Arial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1200" dirty="0">
              <a:ea typeface="+mn-lt"/>
              <a:cs typeface="+mn-lt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E7B498A-7E59-674D-4F53-EF964CCD4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65" y="2195932"/>
            <a:ext cx="8500673" cy="46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2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9331B-CE98-BEDA-46AA-F17A8B47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C6260A40-68E0-BC3D-234B-C1184DA29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17" b="52543"/>
          <a:stretch>
            <a:fillRect/>
          </a:stretch>
        </p:blipFill>
        <p:spPr>
          <a:xfrm flipH="1" flipV="1">
            <a:off x="7625219" y="4426778"/>
            <a:ext cx="2307563" cy="1301549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9BF12CFF-7B33-C271-1C48-60C2048C8916}"/>
              </a:ext>
            </a:extLst>
          </p:cNvPr>
          <p:cNvSpPr/>
          <p:nvPr/>
        </p:nvSpPr>
        <p:spPr>
          <a:xfrm>
            <a:off x="4497754" y="1518176"/>
            <a:ext cx="3269911" cy="48453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algn="ctr" defTabSz="585216">
              <a:lnSpc>
                <a:spcPct val="90000"/>
              </a:lnSpc>
              <a:spcAft>
                <a:spcPts val="600"/>
              </a:spcAft>
            </a:pPr>
            <a:r>
              <a:rPr lang="en-US" altLang="zh-CN" sz="28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Conclusion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圆角矩形 17">
            <a:extLst>
              <a:ext uri="{FF2B5EF4-FFF2-40B4-BE49-F238E27FC236}">
                <a16:creationId xmlns:a16="http://schemas.microsoft.com/office/drawing/2014/main" id="{59B94C50-64F4-2901-FB42-7A499CC483E6}"/>
              </a:ext>
            </a:extLst>
          </p:cNvPr>
          <p:cNvSpPr/>
          <p:nvPr/>
        </p:nvSpPr>
        <p:spPr>
          <a:xfrm flipV="1">
            <a:off x="5628214" y="2188708"/>
            <a:ext cx="785449" cy="3465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A24A566-8281-6EFE-34EE-21174FCE4E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5225" b="12477"/>
          <a:stretch>
            <a:fillRect/>
          </a:stretch>
        </p:blipFill>
        <p:spPr>
          <a:xfrm>
            <a:off x="2259212" y="1123527"/>
            <a:ext cx="1805027" cy="1523988"/>
          </a:xfrm>
          <a:prstGeom prst="rect">
            <a:avLst/>
          </a:prstGeom>
        </p:spPr>
      </p:pic>
      <p:sp>
        <p:nvSpPr>
          <p:cNvPr id="49" name="矩形 26">
            <a:extLst>
              <a:ext uri="{FF2B5EF4-FFF2-40B4-BE49-F238E27FC236}">
                <a16:creationId xmlns:a16="http://schemas.microsoft.com/office/drawing/2014/main" id="{3273EA09-39CE-3584-074F-D9C3089C86D7}"/>
              </a:ext>
            </a:extLst>
          </p:cNvPr>
          <p:cNvSpPr/>
          <p:nvPr/>
        </p:nvSpPr>
        <p:spPr>
          <a:xfrm>
            <a:off x="2398273" y="2737371"/>
            <a:ext cx="7158259" cy="2885261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ctr" defTabSz="585216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 dirty="0">
                <a:latin typeface="+mn-lt"/>
                <a:ea typeface="+mn-lt"/>
                <a:cs typeface="+mn-lt"/>
                <a:sym typeface="+mn-lt"/>
              </a:rPr>
              <a:t>The project enhances emergency response systems, leveraging technology to optimize resource allocation and improve overall efficiency in ambulance services. The implementation of CRUD operations ensures a comprehensive and functional solution for both users and administrators.</a:t>
            </a: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1630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泪滴形 9">
            <a:extLst>
              <a:ext uri="{FF2B5EF4-FFF2-40B4-BE49-F238E27FC236}">
                <a16:creationId xmlns:a16="http://schemas.microsoft.com/office/drawing/2014/main" id="{C9416E8A-0898-482F-9D94-AD81FC52CA87}"/>
              </a:ext>
            </a:extLst>
          </p:cNvPr>
          <p:cNvSpPr/>
          <p:nvPr/>
        </p:nvSpPr>
        <p:spPr>
          <a:xfrm flipH="1">
            <a:off x="316282" y="341226"/>
            <a:ext cx="7732797" cy="5654460"/>
          </a:xfrm>
          <a:prstGeom prst="teardrop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08C9F2-C22A-4CC3-BE4D-7FA16B806581}"/>
              </a:ext>
            </a:extLst>
          </p:cNvPr>
          <p:cNvSpPr/>
          <p:nvPr/>
        </p:nvSpPr>
        <p:spPr>
          <a:xfrm>
            <a:off x="262359" y="315410"/>
            <a:ext cx="11667281" cy="622718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F592D1-3333-41FE-9111-5C05A97E38C8}"/>
              </a:ext>
            </a:extLst>
          </p:cNvPr>
          <p:cNvSpPr/>
          <p:nvPr/>
        </p:nvSpPr>
        <p:spPr>
          <a:xfrm>
            <a:off x="923912" y="2166250"/>
            <a:ext cx="5690248" cy="1036320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algn="dist"/>
            <a:r>
              <a:rPr lang="en-US" altLang="en-US" sz="6200" dirty="0">
                <a:solidFill>
                  <a:schemeClr val="bg1"/>
                </a:solidFill>
                <a:cs typeface="+mn-ea"/>
                <a:sym typeface="+mn-lt"/>
              </a:rPr>
              <a:t>Thank you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A989D4-94D2-4CD9-A298-F4D21E501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b="12478"/>
          <a:stretch>
            <a:fillRect/>
          </a:stretch>
        </p:blipFill>
        <p:spPr>
          <a:xfrm flipH="1">
            <a:off x="5072415" y="-195675"/>
            <a:ext cx="6832713" cy="724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2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</p:tagLst>
</file>

<file path=ppt/theme/theme1.xml><?xml version="1.0" encoding="utf-8"?>
<a:theme xmlns:a="http://schemas.openxmlformats.org/drawingml/2006/main" name="千图网海量PPT模板www.58pic.com​​">
  <a:themeElements>
    <a:clrScheme name="自定义 1022">
      <a:dk1>
        <a:sysClr val="windowText" lastClr="000000"/>
      </a:dk1>
      <a:lt1>
        <a:sysClr val="window" lastClr="FFFFFF"/>
      </a:lt1>
      <a:dk2>
        <a:srgbClr val="5A6378"/>
      </a:dk2>
      <a:lt2>
        <a:srgbClr val="7F7F7F"/>
      </a:lt2>
      <a:accent1>
        <a:srgbClr val="C03243"/>
      </a:accent1>
      <a:accent2>
        <a:srgbClr val="C03243"/>
      </a:accent2>
      <a:accent3>
        <a:srgbClr val="C03243"/>
      </a:accent3>
      <a:accent4>
        <a:srgbClr val="C03243"/>
      </a:accent4>
      <a:accent5>
        <a:srgbClr val="C03243"/>
      </a:accent5>
      <a:accent6>
        <a:srgbClr val="C03243"/>
      </a:accent6>
      <a:hlink>
        <a:srgbClr val="168BBA"/>
      </a:hlink>
      <a:folHlink>
        <a:srgbClr val="680000"/>
      </a:folHlink>
    </a:clrScheme>
    <a:fontScheme name="psmot3kq">
      <a:majorFont>
        <a:latin typeface="庞门正道标题体" panose="020F0302020204030204"/>
        <a:ea typeface="庞门正道标题体"/>
        <a:cs typeface="Arial"/>
      </a:majorFont>
      <a:minorFont>
        <a:latin typeface="庞门正道标题体" panose="020F0302020204030204"/>
        <a:ea typeface="庞门正道标题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等线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等线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194</Words>
  <Application>Microsoft Office PowerPoint</Application>
  <PresentationFormat>Widescreen</PresentationFormat>
  <Paragraphs>52</Paragraphs>
  <Slides>14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千图网海量PPT模板www.58pic.com​​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Anik Lal Dey</cp:lastModifiedBy>
  <cp:revision>860</cp:revision>
  <dcterms:created xsi:type="dcterms:W3CDTF">2018-04-10T08:10:31Z</dcterms:created>
  <dcterms:modified xsi:type="dcterms:W3CDTF">2023-12-24T14:23:29Z</dcterms:modified>
</cp:coreProperties>
</file>